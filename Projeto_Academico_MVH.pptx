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2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ítulo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BD582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Rectangle 2"/>
          <p:cNvSpPr/>
          <p:nvPr/>
        </p:nvSpPr>
        <p:spPr>
          <a:xfrm>
            <a:off x="0" y="6334200"/>
            <a:ext cx="9144000" cy="66600"/>
          </a:xfrm>
          <a:prstGeom prst="rect">
            <a:avLst/>
          </a:prstGeom>
          <a:solidFill>
            <a:srgbClr val="E4831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19800" rIns="90000" bIns="19800" anchor="ctr">
            <a:noAutofit/>
          </a:bodyPr>
          <a:lstStyle/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Line 3"/>
          <p:cNvSpPr/>
          <p:nvPr/>
        </p:nvSpPr>
        <p:spPr>
          <a:xfrm>
            <a:off x="895320" y="1738440"/>
            <a:ext cx="7475400" cy="1440"/>
          </a:xfrm>
          <a:prstGeom prst="line">
            <a:avLst/>
          </a:prstGeom>
          <a:ln w="6480">
            <a:solidFill>
              <a:srgbClr val="7F7F7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5360" rIns="90000" bIns="-4536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821880" y="287280"/>
            <a:ext cx="7542360" cy="14479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lstStyle/>
          <a:p>
            <a:pPr indent="0">
              <a:lnSpc>
                <a:spcPct val="85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pt-BR" sz="4800" b="0" u="none" strike="noStrike">
                <a:solidFill>
                  <a:srgbClr val="404040"/>
                </a:solidFill>
                <a:effectLst/>
                <a:uFillTx/>
                <a:latin typeface="Calibri Light"/>
              </a:rPr>
              <a:t>Clique para editar o formato do texto do título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821880" y="1846080"/>
            <a:ext cx="7542360" cy="4020840"/>
          </a:xfrm>
          <a:prstGeom prst="rect">
            <a:avLst/>
          </a:prstGeom>
          <a:noFill/>
          <a:ln w="0">
            <a:noFill/>
          </a:ln>
        </p:spPr>
        <p:txBody>
          <a:bodyPr lIns="0" tIns="46800" rIns="0" bIns="46800" anchor="t">
            <a:normAutofit/>
          </a:bodyPr>
          <a:lstStyle/>
          <a:p>
            <a:pPr marL="343080" indent="-343080">
              <a:lnSpc>
                <a:spcPct val="90000"/>
              </a:lnSpc>
              <a:spcBef>
                <a:spcPts val="1213"/>
              </a:spcBef>
              <a:spcAft>
                <a:spcPts val="213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pt-BR" sz="2000" b="0" u="none" strike="noStrike">
                <a:solidFill>
                  <a:srgbClr val="404040"/>
                </a:solidFill>
                <a:effectLst/>
                <a:uFillTx/>
                <a:latin typeface="Calibri"/>
              </a:rPr>
              <a:t>Clique para editar o formato de texto dos tópicos</a:t>
            </a:r>
          </a:p>
          <a:p>
            <a:pPr marL="343080" lvl="1" indent="-343080">
              <a:lnSpc>
                <a:spcPct val="90000"/>
              </a:lnSpc>
              <a:spcBef>
                <a:spcPts val="1213"/>
              </a:spcBef>
              <a:spcAft>
                <a:spcPts val="213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pt-BR" sz="2000" b="0" u="none" strike="noStrike">
                <a:solidFill>
                  <a:srgbClr val="404040"/>
                </a:solidFill>
                <a:effectLst/>
                <a:uFillTx/>
                <a:latin typeface="Calibri"/>
              </a:rPr>
              <a:t>2.º nível de tópicos</a:t>
            </a:r>
          </a:p>
          <a:p>
            <a:pPr marL="343080" lvl="2" indent="-343080">
              <a:lnSpc>
                <a:spcPct val="90000"/>
              </a:lnSpc>
              <a:spcBef>
                <a:spcPts val="1213"/>
              </a:spcBef>
              <a:spcAft>
                <a:spcPts val="213"/>
              </a:spcAft>
              <a:buClr>
                <a:srgbClr val="000000"/>
              </a:buClr>
              <a:buFont typeface="Times New Roman"/>
              <a:buChar char="•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pt-BR" sz="2000" b="0" u="none" strike="noStrike">
                <a:solidFill>
                  <a:srgbClr val="404040"/>
                </a:solidFill>
                <a:effectLst/>
                <a:uFillTx/>
                <a:latin typeface="Calibri"/>
              </a:rPr>
              <a:t>3.º nível de tópicos</a:t>
            </a:r>
          </a:p>
          <a:p>
            <a:pPr marL="343080" lvl="3" indent="-343080">
              <a:lnSpc>
                <a:spcPct val="90000"/>
              </a:lnSpc>
              <a:spcBef>
                <a:spcPts val="1213"/>
              </a:spcBef>
              <a:spcAft>
                <a:spcPts val="213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pt-BR" sz="2000" b="0" u="none" strike="noStrike">
                <a:solidFill>
                  <a:srgbClr val="404040"/>
                </a:solidFill>
                <a:effectLst/>
                <a:uFillTx/>
                <a:latin typeface="Calibri"/>
              </a:rPr>
              <a:t>4.º nível de tópicos</a:t>
            </a:r>
          </a:p>
          <a:p>
            <a:pPr marL="343080" lvl="4" indent="-343080">
              <a:lnSpc>
                <a:spcPct val="90000"/>
              </a:lnSpc>
              <a:spcBef>
                <a:spcPts val="1213"/>
              </a:spcBef>
              <a:spcAft>
                <a:spcPts val="213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pt-BR" sz="2000" b="0" u="none" strike="noStrike">
                <a:solidFill>
                  <a:srgbClr val="404040"/>
                </a:solidFill>
                <a:effectLst/>
                <a:uFillTx/>
                <a:latin typeface="Calibri"/>
              </a:rPr>
              <a:t>5.º nível de tópicos</a:t>
            </a:r>
          </a:p>
          <a:p>
            <a:pPr marL="343080" lvl="5" indent="-343080">
              <a:lnSpc>
                <a:spcPct val="90000"/>
              </a:lnSpc>
              <a:spcBef>
                <a:spcPts val="1213"/>
              </a:spcBef>
              <a:spcAft>
                <a:spcPts val="213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pt-BR" sz="2000" b="0" u="none" strike="noStrike">
                <a:solidFill>
                  <a:srgbClr val="404040"/>
                </a:solidFill>
                <a:effectLst/>
                <a:uFillTx/>
                <a:latin typeface="Calibri"/>
              </a:rPr>
              <a:t>6.º nível de tópicos</a:t>
            </a:r>
          </a:p>
          <a:p>
            <a:pPr marL="343080" lvl="6" indent="-343080">
              <a:lnSpc>
                <a:spcPct val="90000"/>
              </a:lnSpc>
              <a:spcBef>
                <a:spcPts val="1213"/>
              </a:spcBef>
              <a:spcAft>
                <a:spcPts val="213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pt-BR" sz="2000" b="0" u="none" strike="noStrike">
                <a:solidFill>
                  <a:srgbClr val="404040"/>
                </a:solidFill>
                <a:effectLst/>
                <a:uFillTx/>
                <a:latin typeface="Calibri"/>
              </a:rPr>
              <a:t>7.º nível de tópicos</a:t>
            </a: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822240" y="6459480"/>
            <a:ext cx="18525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Text Box 7"/>
          <p:cNvSpPr/>
          <p:nvPr/>
        </p:nvSpPr>
        <p:spPr>
          <a:xfrm>
            <a:off x="2765520" y="6459480"/>
            <a:ext cx="3616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sldNum" idx="2"/>
          </p:nvPr>
        </p:nvSpPr>
        <p:spPr>
          <a:xfrm>
            <a:off x="7424640" y="6459480"/>
            <a:ext cx="98280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  <a:defRPr lang="en-US" sz="10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Segoe UI"/>
              </a:defRPr>
            </a:lvl1pPr>
          </a:lstStyle>
          <a:p>
            <a:pPr indent="0" algn="r"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E2EFEA55-EA3F-4913-9294-8D432B770A59}" type="slidenum"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Segoe UI"/>
              </a:rPr>
              <a:t>‹nº›</a:t>
            </a:fld>
            <a:endParaRPr lang="pt-B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"/>
          <p:cNvSpPr/>
          <p:nvPr/>
        </p:nvSpPr>
        <p:spPr>
          <a:xfrm>
            <a:off x="971640" y="2060640"/>
            <a:ext cx="7488000" cy="302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6800" rIns="0" bIns="46800" anchor="t">
            <a:noAutofit/>
          </a:bodyPr>
          <a:lstStyle/>
          <a:p>
            <a:pPr marL="90360" indent="-90360">
              <a:lnSpc>
                <a:spcPct val="90000"/>
              </a:lnSpc>
              <a:spcBef>
                <a:spcPts val="1763"/>
              </a:spcBef>
              <a:spcAft>
                <a:spcPts val="213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800" b="0" u="none" strike="noStrike">
                <a:solidFill>
                  <a:srgbClr val="002060"/>
                </a:solidFill>
                <a:effectLst/>
                <a:uFillTx/>
                <a:latin typeface="Times New Roman"/>
              </a:rPr>
              <a:t>Orientações: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90360" indent="-90360">
              <a:lnSpc>
                <a:spcPct val="90000"/>
              </a:lnSpc>
              <a:spcBef>
                <a:spcPts val="1763"/>
              </a:spcBef>
              <a:spcAft>
                <a:spcPts val="213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1600" b="0" u="none" strike="noStrike">
                <a:solidFill>
                  <a:srgbClr val="002060"/>
                </a:solidFill>
                <a:effectLst/>
                <a:uFillTx/>
                <a:latin typeface="Times New Roman"/>
              </a:rPr>
              <a:t>Para validação do seu estágio será necessário produzir uma apresentação (seguindo este modelo) com a descrição do projeto, suas principais atividades, os resultados entre outras informações.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90360" indent="-90360">
              <a:lnSpc>
                <a:spcPct val="90000"/>
              </a:lnSpc>
              <a:spcBef>
                <a:spcPts val="1763"/>
              </a:spcBef>
              <a:spcAft>
                <a:spcPts val="213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1600" b="0" u="none" strike="noStrike">
                <a:solidFill>
                  <a:srgbClr val="002060"/>
                </a:solidFill>
                <a:effectLst/>
                <a:uFillTx/>
                <a:latin typeface="Times New Roman"/>
              </a:rPr>
              <a:t>Os slides a seguir apresentam uma sugestão da sequencia das informações do estágio.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90360" indent="-90360">
              <a:lnSpc>
                <a:spcPct val="90000"/>
              </a:lnSpc>
              <a:spcBef>
                <a:spcPts val="1763"/>
              </a:spcBef>
              <a:spcAft>
                <a:spcPts val="213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1600" b="0" u="none" strike="noStrike">
                <a:solidFill>
                  <a:srgbClr val="002060"/>
                </a:solidFill>
                <a:effectLst/>
                <a:uFillTx/>
                <a:latin typeface="Times New Roman"/>
              </a:rPr>
              <a:t>Deve apresentar o seu projeto de estágio, as pessoas envolvidas, descrição dos objetivos e resultados.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90360" indent="-90360">
              <a:lnSpc>
                <a:spcPct val="90000"/>
              </a:lnSpc>
              <a:spcBef>
                <a:spcPts val="1763"/>
              </a:spcBef>
              <a:spcAft>
                <a:spcPts val="213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pt-BR" sz="1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90360" indent="-90360">
              <a:lnSpc>
                <a:spcPct val="90000"/>
              </a:lnSpc>
              <a:spcBef>
                <a:spcPts val="1763"/>
              </a:spcBef>
              <a:spcAft>
                <a:spcPts val="213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1600" b="0" u="none" strike="noStrike">
                <a:solidFill>
                  <a:srgbClr val="002060"/>
                </a:solidFill>
                <a:effectLst/>
                <a:uFillTx/>
                <a:latin typeface="Times New Roman"/>
              </a:rPr>
              <a:t> 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9" name="Picture 4"/>
          <p:cNvPicPr/>
          <p:nvPr/>
        </p:nvPicPr>
        <p:blipFill>
          <a:blip r:embed="rId2"/>
          <a:stretch/>
        </p:blipFill>
        <p:spPr>
          <a:xfrm>
            <a:off x="1116000" y="538200"/>
            <a:ext cx="1892160" cy="658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" name="Picture 5"/>
          <p:cNvPicPr/>
          <p:nvPr/>
        </p:nvPicPr>
        <p:blipFill>
          <a:blip r:embed="rId3"/>
          <a:stretch/>
        </p:blipFill>
        <p:spPr>
          <a:xfrm>
            <a:off x="4570560" y="538200"/>
            <a:ext cx="3530520" cy="658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2"/>
          <p:cNvSpPr/>
          <p:nvPr/>
        </p:nvSpPr>
        <p:spPr>
          <a:xfrm>
            <a:off x="2062080" y="2060640"/>
            <a:ext cx="5186520" cy="86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6800" rIns="0" bIns="46800" anchor="t">
            <a:noAutofit/>
          </a:bodyPr>
          <a:lstStyle/>
          <a:p>
            <a:pPr marL="90360" indent="-90360">
              <a:lnSpc>
                <a:spcPct val="90000"/>
              </a:lnSpc>
              <a:spcBef>
                <a:spcPts val="1763"/>
              </a:spcBef>
              <a:spcAft>
                <a:spcPts val="213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800" b="0" u="none" strike="noStrike" dirty="0">
                <a:solidFill>
                  <a:srgbClr val="002060"/>
                </a:solidFill>
                <a:effectLst/>
                <a:uFillTx/>
                <a:latin typeface="Times New Roman"/>
              </a:rPr>
              <a:t>Projeto de Estágios Voluntários da Fatec Zona Leste</a:t>
            </a:r>
            <a:endParaRPr lang="pt-BR" sz="2800" b="0" u="none" strike="noStrike" dirty="0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90360" indent="-90360">
              <a:lnSpc>
                <a:spcPct val="90000"/>
              </a:lnSpc>
              <a:spcBef>
                <a:spcPts val="1763"/>
              </a:spcBef>
              <a:spcAft>
                <a:spcPts val="213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800" b="0" u="none" strike="noStrike" dirty="0">
                <a:solidFill>
                  <a:srgbClr val="002060"/>
                </a:solidFill>
                <a:effectLst/>
                <a:uFillTx/>
                <a:latin typeface="Times New Roman"/>
              </a:rPr>
              <a:t>(projeto: Museu Virtual do Hardware)</a:t>
            </a:r>
            <a:endParaRPr lang="pt-BR" sz="2800" b="0" u="none" strike="noStrike" dirty="0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Text Box 3"/>
          <p:cNvSpPr/>
          <p:nvPr/>
        </p:nvSpPr>
        <p:spPr>
          <a:xfrm>
            <a:off x="2236679" y="5516640"/>
            <a:ext cx="6085517" cy="13435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b="1" dirty="0">
                <a:solidFill>
                  <a:srgbClr val="000000"/>
                </a:solidFill>
                <a:latin typeface="Times New Roman"/>
              </a:rPr>
              <a:t>Gabriel Delfino</a:t>
            </a:r>
          </a:p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180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José </a:t>
            </a:r>
            <a:r>
              <a:rPr lang="pt-BR" sz="1800" b="1" u="none" strike="noStrike" dirty="0" err="1">
                <a:solidFill>
                  <a:srgbClr val="000000"/>
                </a:solidFill>
                <a:effectLst/>
                <a:uFillTx/>
                <a:latin typeface="Times New Roman"/>
              </a:rPr>
              <a:t>Claudiley</a:t>
            </a:r>
            <a:r>
              <a:rPr lang="pt-BR" sz="180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da </a:t>
            </a:r>
            <a:r>
              <a:rPr lang="pt-BR" sz="1800" b="1" u="none" strike="noStrike" dirty="0" err="1">
                <a:solidFill>
                  <a:srgbClr val="000000"/>
                </a:solidFill>
                <a:effectLst/>
                <a:uFillTx/>
                <a:latin typeface="Times New Roman"/>
              </a:rPr>
              <a:t>Siva</a:t>
            </a:r>
            <a:endParaRPr lang="pt-BR" sz="1800" b="0" u="none" strike="noStrike" dirty="0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180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2026</a:t>
            </a:r>
            <a:endParaRPr lang="pt-BR" sz="1800" b="0" u="none" strike="noStrike" dirty="0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spcBef>
                <a:spcPts val="1137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pt-BR" sz="1800" b="0" u="none" strike="noStrike" dirty="0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3" name="Picture 4"/>
          <p:cNvPicPr/>
          <p:nvPr/>
        </p:nvPicPr>
        <p:blipFill>
          <a:blip r:embed="rId2"/>
          <a:stretch/>
        </p:blipFill>
        <p:spPr>
          <a:xfrm>
            <a:off x="1116000" y="538200"/>
            <a:ext cx="1892160" cy="658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" name="Picture 5"/>
          <p:cNvPicPr/>
          <p:nvPr/>
        </p:nvPicPr>
        <p:blipFill>
          <a:blip r:embed="rId3"/>
          <a:stretch/>
        </p:blipFill>
        <p:spPr>
          <a:xfrm>
            <a:off x="4570560" y="538200"/>
            <a:ext cx="3530520" cy="65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 Box 3">
            <a:extLst>
              <a:ext uri="{FF2B5EF4-FFF2-40B4-BE49-F238E27FC236}">
                <a16:creationId xmlns:a16="http://schemas.microsoft.com/office/drawing/2014/main" id="{D126ED2D-2994-1F1C-7353-5BA224B98CE4}"/>
              </a:ext>
            </a:extLst>
          </p:cNvPr>
          <p:cNvSpPr/>
          <p:nvPr/>
        </p:nvSpPr>
        <p:spPr>
          <a:xfrm>
            <a:off x="1116000" y="5516640"/>
            <a:ext cx="1314430" cy="3715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180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Autores:</a:t>
            </a:r>
            <a:endParaRPr lang="pt-BR" sz="1800" b="0" u="none" strike="noStrike" dirty="0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1"/>
          <p:cNvSpPr/>
          <p:nvPr/>
        </p:nvSpPr>
        <p:spPr>
          <a:xfrm>
            <a:off x="863640" y="692280"/>
            <a:ext cx="6264360" cy="64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rmAutofit/>
          </a:bodyPr>
          <a:lstStyle/>
          <a:p>
            <a:pPr>
              <a:lnSpc>
                <a:spcPct val="85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3200" b="0" u="none" strike="noStrike">
                <a:solidFill>
                  <a:srgbClr val="404040"/>
                </a:solidFill>
                <a:effectLst/>
                <a:uFillTx/>
                <a:latin typeface="Times New Roman"/>
              </a:rPr>
              <a:t>Equipe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Text Box 2"/>
          <p:cNvSpPr/>
          <p:nvPr/>
        </p:nvSpPr>
        <p:spPr>
          <a:xfrm>
            <a:off x="1187280" y="1773360"/>
            <a:ext cx="5113440" cy="251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6800" rIns="0" bIns="46800" anchor="t">
            <a:normAutofit/>
          </a:bodyPr>
          <a:lstStyle/>
          <a:p>
            <a:pPr marL="90360" indent="-90360">
              <a:lnSpc>
                <a:spcPct val="90000"/>
              </a:lnSpc>
              <a:spcBef>
                <a:spcPts val="1213"/>
              </a:spcBef>
              <a:spcAft>
                <a:spcPts val="213"/>
              </a:spcAft>
              <a:buClr>
                <a:srgbClr val="E48312"/>
              </a:buClr>
              <a:buFont typeface="Calibri"/>
              <a:buChar char=" 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400" b="0" u="none" strike="noStrike">
                <a:solidFill>
                  <a:srgbClr val="002060"/>
                </a:solidFill>
                <a:effectLst/>
                <a:uFillTx/>
                <a:latin typeface="Times New Roman"/>
              </a:rPr>
              <a:t>Foto e nome completo de todos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1"/>
          <p:cNvSpPr/>
          <p:nvPr/>
        </p:nvSpPr>
        <p:spPr>
          <a:xfrm>
            <a:off x="863640" y="692280"/>
            <a:ext cx="6264360" cy="64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rmAutofit/>
          </a:bodyPr>
          <a:lstStyle/>
          <a:p>
            <a:pPr>
              <a:lnSpc>
                <a:spcPct val="85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3200" b="0" u="none" strike="noStrike">
                <a:solidFill>
                  <a:srgbClr val="404040"/>
                </a:solidFill>
                <a:effectLst/>
                <a:uFillTx/>
                <a:latin typeface="Times New Roman"/>
              </a:rPr>
              <a:t>Objetivos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Text Box 2"/>
          <p:cNvSpPr/>
          <p:nvPr/>
        </p:nvSpPr>
        <p:spPr>
          <a:xfrm>
            <a:off x="1187280" y="1773360"/>
            <a:ext cx="5113440" cy="251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6800" rIns="0" bIns="46800" anchor="t">
            <a:normAutofit/>
          </a:bodyPr>
          <a:lstStyle/>
          <a:p>
            <a:pPr marL="90360" indent="-90360">
              <a:lnSpc>
                <a:spcPct val="90000"/>
              </a:lnSpc>
              <a:spcBef>
                <a:spcPts val="1213"/>
              </a:spcBef>
              <a:spcAft>
                <a:spcPts val="213"/>
              </a:spcAft>
              <a:buClr>
                <a:srgbClr val="E48312"/>
              </a:buClr>
              <a:buFont typeface="Calibri"/>
              <a:buChar char=" 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400" b="0" u="none" strike="noStrike">
                <a:solidFill>
                  <a:srgbClr val="002060"/>
                </a:solidFill>
                <a:effectLst/>
                <a:uFillTx/>
                <a:latin typeface="Times New Roman"/>
              </a:rPr>
              <a:t>Descrição dos objetivos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Box 1"/>
          <p:cNvSpPr/>
          <p:nvPr/>
        </p:nvSpPr>
        <p:spPr>
          <a:xfrm>
            <a:off x="900000" y="549360"/>
            <a:ext cx="6624720" cy="86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rmAutofit/>
          </a:bodyPr>
          <a:lstStyle/>
          <a:p>
            <a:pPr>
              <a:lnSpc>
                <a:spcPct val="85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3200" b="0" u="none" strike="noStrike">
                <a:solidFill>
                  <a:srgbClr val="404040"/>
                </a:solidFill>
                <a:effectLst/>
                <a:uFillTx/>
                <a:latin typeface="Times New Roman"/>
              </a:rPr>
              <a:t>Descrição do projeto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Text Box 2"/>
          <p:cNvSpPr/>
          <p:nvPr/>
        </p:nvSpPr>
        <p:spPr>
          <a:xfrm>
            <a:off x="900000" y="1916280"/>
            <a:ext cx="4824360" cy="467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6800" rIns="0" bIns="46800" anchor="t">
            <a:normAutofit/>
          </a:bodyPr>
          <a:lstStyle/>
          <a:p>
            <a:pPr marL="90360" indent="-90360">
              <a:lnSpc>
                <a:spcPct val="90000"/>
              </a:lnSpc>
              <a:spcBef>
                <a:spcPts val="1213"/>
              </a:spcBef>
              <a:spcAft>
                <a:spcPts val="213"/>
              </a:spcAft>
              <a:buClr>
                <a:srgbClr val="E48312"/>
              </a:buClr>
              <a:buFont typeface="Calibri"/>
              <a:buChar char=" 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800" b="0" u="none" strike="noStrike" dirty="0">
                <a:solidFill>
                  <a:srgbClr val="404040"/>
                </a:solidFill>
                <a:effectLst/>
                <a:uFillTx/>
                <a:latin typeface="Calibri"/>
              </a:rPr>
              <a:t>Este projeto se caracteriza por:</a:t>
            </a:r>
            <a:endParaRPr lang="pt-BR" sz="2800" b="0" u="none" strike="noStrike" dirty="0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1"/>
          <p:cNvSpPr/>
          <p:nvPr/>
        </p:nvSpPr>
        <p:spPr>
          <a:xfrm>
            <a:off x="861840" y="549360"/>
            <a:ext cx="6624720" cy="86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rmAutofit/>
          </a:bodyPr>
          <a:lstStyle/>
          <a:p>
            <a:pPr>
              <a:lnSpc>
                <a:spcPct val="85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3200" b="0" u="none" strike="noStrike">
                <a:solidFill>
                  <a:srgbClr val="404040"/>
                </a:solidFill>
                <a:effectLst/>
                <a:uFillTx/>
                <a:latin typeface="Times New Roman"/>
              </a:rPr>
              <a:t>Principais atividades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Text Box 2"/>
          <p:cNvSpPr/>
          <p:nvPr/>
        </p:nvSpPr>
        <p:spPr>
          <a:xfrm>
            <a:off x="861840" y="1905120"/>
            <a:ext cx="5400720" cy="230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6800" rIns="0" bIns="46800" anchor="t">
            <a:normAutofit/>
          </a:bodyPr>
          <a:lstStyle/>
          <a:p>
            <a:pPr marL="90360" indent="-90360">
              <a:lnSpc>
                <a:spcPct val="70000"/>
              </a:lnSpc>
              <a:spcBef>
                <a:spcPts val="1213"/>
              </a:spcBef>
              <a:spcAft>
                <a:spcPts val="213"/>
              </a:spcAft>
              <a:buClr>
                <a:srgbClr val="E48312"/>
              </a:buClr>
              <a:buFont typeface="Calibri"/>
              <a:buChar char=" 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600" b="0" u="none" strike="noStrike">
                <a:solidFill>
                  <a:srgbClr val="404040"/>
                </a:solidFill>
                <a:effectLst/>
                <a:uFillTx/>
                <a:latin typeface="Calibri"/>
              </a:rPr>
              <a:t> </a:t>
            </a:r>
            <a:r>
              <a:rPr lang="pt-BR" sz="2600" b="0" u="none" strike="noStrike">
                <a:solidFill>
                  <a:srgbClr val="002060"/>
                </a:solidFill>
                <a:effectLst/>
                <a:uFillTx/>
                <a:latin typeface="Calibri"/>
              </a:rPr>
              <a:t>descrição iniciando sempre com algum verbo (por exemplo: analisar, gerar, criar, revisar etc)</a:t>
            </a:r>
            <a:endParaRPr lang="pt-BR" sz="2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Box 1"/>
          <p:cNvSpPr/>
          <p:nvPr/>
        </p:nvSpPr>
        <p:spPr>
          <a:xfrm>
            <a:off x="861840" y="549360"/>
            <a:ext cx="6624720" cy="86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rmAutofit/>
          </a:bodyPr>
          <a:lstStyle/>
          <a:p>
            <a:pPr>
              <a:lnSpc>
                <a:spcPct val="85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3200" b="0" u="none" strike="noStrike">
                <a:solidFill>
                  <a:srgbClr val="404040"/>
                </a:solidFill>
                <a:effectLst/>
                <a:uFillTx/>
                <a:latin typeface="Times New Roman"/>
              </a:rPr>
              <a:t>Principais resultados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Text Box 2"/>
          <p:cNvSpPr/>
          <p:nvPr/>
        </p:nvSpPr>
        <p:spPr>
          <a:xfrm>
            <a:off x="861840" y="1905120"/>
            <a:ext cx="5400720" cy="230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6800" rIns="0" bIns="46800" anchor="t">
            <a:normAutofit/>
          </a:bodyPr>
          <a:lstStyle/>
          <a:p>
            <a:pPr marL="90360" indent="-90360">
              <a:lnSpc>
                <a:spcPct val="70000"/>
              </a:lnSpc>
              <a:spcBef>
                <a:spcPts val="1213"/>
              </a:spcBef>
              <a:spcAft>
                <a:spcPts val="213"/>
              </a:spcAft>
              <a:buClr>
                <a:srgbClr val="E48312"/>
              </a:buClr>
              <a:buFont typeface="Calibri"/>
              <a:buChar char=" 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600" b="0" u="none" strike="noStrike">
                <a:solidFill>
                  <a:srgbClr val="404040"/>
                </a:solidFill>
                <a:effectLst/>
                <a:uFillTx/>
                <a:latin typeface="Calibri"/>
              </a:rPr>
              <a:t> </a:t>
            </a:r>
            <a:r>
              <a:rPr lang="pt-BR" sz="2600" b="0" u="none" strike="noStrike">
                <a:solidFill>
                  <a:srgbClr val="002060"/>
                </a:solidFill>
                <a:effectLst/>
                <a:uFillTx/>
                <a:latin typeface="Calibri"/>
              </a:rPr>
              <a:t>descrição e se possível imagem comprovando, por exemplo: produzir um evento x, foto do evento)</a:t>
            </a:r>
            <a:endParaRPr lang="pt-BR" sz="2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90360" indent="-90360">
              <a:lnSpc>
                <a:spcPct val="70000"/>
              </a:lnSpc>
              <a:spcBef>
                <a:spcPts val="1213"/>
              </a:spcBef>
              <a:spcAft>
                <a:spcPts val="213"/>
              </a:spcAft>
              <a:buClr>
                <a:srgbClr val="E48312"/>
              </a:buClr>
              <a:buFont typeface="Calibri"/>
              <a:buChar char=" 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600" b="0" u="none" strike="noStrike">
                <a:solidFill>
                  <a:srgbClr val="002060"/>
                </a:solidFill>
                <a:effectLst/>
                <a:uFillTx/>
                <a:latin typeface="Calibri"/>
              </a:rPr>
              <a:t>Pode –se utilizar de vários slides</a:t>
            </a:r>
            <a:endParaRPr lang="pt-BR" sz="2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Box 1"/>
          <p:cNvSpPr/>
          <p:nvPr/>
        </p:nvSpPr>
        <p:spPr>
          <a:xfrm>
            <a:off x="861840" y="549360"/>
            <a:ext cx="6624720" cy="86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rmAutofit/>
          </a:bodyPr>
          <a:lstStyle/>
          <a:p>
            <a:pPr>
              <a:lnSpc>
                <a:spcPct val="85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3200" b="0" u="none" strike="noStrike">
                <a:solidFill>
                  <a:srgbClr val="404040"/>
                </a:solidFill>
                <a:effectLst/>
                <a:uFillTx/>
                <a:latin typeface="Times New Roman"/>
              </a:rPr>
              <a:t>Comentários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Text Box 2"/>
          <p:cNvSpPr/>
          <p:nvPr/>
        </p:nvSpPr>
        <p:spPr>
          <a:xfrm>
            <a:off x="861840" y="1905120"/>
            <a:ext cx="5400720" cy="230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6800" rIns="0" bIns="46800" anchor="t">
            <a:normAutofit/>
          </a:bodyPr>
          <a:lstStyle/>
          <a:p>
            <a:pPr marL="90360" indent="-90360">
              <a:lnSpc>
                <a:spcPct val="70000"/>
              </a:lnSpc>
              <a:spcBef>
                <a:spcPts val="1213"/>
              </a:spcBef>
              <a:spcAft>
                <a:spcPts val="213"/>
              </a:spcAft>
              <a:buClr>
                <a:srgbClr val="E48312"/>
              </a:buClr>
              <a:buFont typeface="Calibri"/>
              <a:buChar char=" 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600" b="0" u="none" strike="noStrike">
                <a:solidFill>
                  <a:srgbClr val="404040"/>
                </a:solidFill>
                <a:effectLst/>
                <a:uFillTx/>
                <a:latin typeface="Calibri"/>
              </a:rPr>
              <a:t> </a:t>
            </a:r>
            <a:r>
              <a:rPr lang="pt-BR" sz="2600" b="0" u="none" strike="noStrike">
                <a:solidFill>
                  <a:srgbClr val="002060"/>
                </a:solidFill>
                <a:effectLst/>
                <a:uFillTx/>
                <a:latin typeface="Calibri"/>
              </a:rPr>
              <a:t>opcionais</a:t>
            </a:r>
            <a:endParaRPr lang="pt-BR" sz="2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Box 1"/>
          <p:cNvSpPr/>
          <p:nvPr/>
        </p:nvSpPr>
        <p:spPr>
          <a:xfrm>
            <a:off x="861840" y="549360"/>
            <a:ext cx="6624720" cy="86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rmAutofit/>
          </a:bodyPr>
          <a:lstStyle/>
          <a:p>
            <a:pPr>
              <a:lnSpc>
                <a:spcPct val="85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3200" b="0" u="none" strike="noStrike">
                <a:solidFill>
                  <a:srgbClr val="404040"/>
                </a:solidFill>
                <a:effectLst/>
                <a:uFillTx/>
                <a:latin typeface="Times New Roman"/>
              </a:rPr>
              <a:t>Agradecimentos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Text Box 2"/>
          <p:cNvSpPr/>
          <p:nvPr/>
        </p:nvSpPr>
        <p:spPr>
          <a:xfrm>
            <a:off x="861840" y="1905120"/>
            <a:ext cx="5400720" cy="230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6800" rIns="0" bIns="46800" anchor="t">
            <a:normAutofit/>
          </a:bodyPr>
          <a:lstStyle/>
          <a:p>
            <a:pPr marL="90360" indent="-90360">
              <a:lnSpc>
                <a:spcPct val="70000"/>
              </a:lnSpc>
              <a:spcBef>
                <a:spcPts val="1213"/>
              </a:spcBef>
              <a:spcAft>
                <a:spcPts val="213"/>
              </a:spcAft>
              <a:buClr>
                <a:srgbClr val="E48312"/>
              </a:buClr>
              <a:buFont typeface="Calibri"/>
              <a:buChar char=" 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600" b="0" u="none" strike="noStrike">
                <a:solidFill>
                  <a:srgbClr val="404040"/>
                </a:solidFill>
                <a:effectLst/>
                <a:uFillTx/>
                <a:latin typeface="Calibri"/>
              </a:rPr>
              <a:t> </a:t>
            </a:r>
            <a:endParaRPr lang="pt-BR" sz="2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Museu Virtual do Hardware - MSX 📚💻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Projeto Acadêmico - FATEC | Museu Virtual do Hardware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Resumo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Este projeto foi estruturado com Spring Boot seguindo MVC em camadas. A API REST fica responsavel pela comunicacao com o frontend, a camada de service concentra as regras de negocio, os repositories acessam o MySQL e as models representam o dominio do museu virtual.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Tecnologias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Java 17</a:t>
            </a:r>
          </a:p>
          <a:p>
            <a:pPr>
              <a:defRPr sz="1400"/>
            </a:pPr>
            <a:r>
              <a:t>- Spring Boot 4.0.6</a:t>
            </a:r>
          </a:p>
          <a:p>
            <a:pPr>
              <a:defRPr sz="1400"/>
            </a:pPr>
            <a:r>
              <a:t>- Spring Web MVC</a:t>
            </a:r>
          </a:p>
          <a:p>
            <a:pPr>
              <a:defRPr sz="1400"/>
            </a:pPr>
            <a:r>
              <a:t>- Spring Data JPA</a:t>
            </a:r>
          </a:p>
          <a:p>
            <a:pPr>
              <a:defRPr sz="1400"/>
            </a:pPr>
            <a:r>
              <a:t>- Hibernate</a:t>
            </a:r>
          </a:p>
          <a:p>
            <a:pPr>
              <a:defRPr sz="1400"/>
            </a:pPr>
            <a:r>
              <a:t>- MySQL</a:t>
            </a:r>
          </a:p>
          <a:p>
            <a:pPr>
              <a:defRPr sz="1400"/>
            </a:pPr>
            <a:r>
              <a:t>- Maven</a:t>
            </a:r>
          </a:p>
          <a:p>
            <a:pPr>
              <a:defRPr sz="1400"/>
            </a:pPr>
            <a:r>
              <a:t>- Lombok</a:t>
            </a:r>
          </a:p>
          <a:p>
            <a:pPr>
              <a:defRPr sz="1400"/>
            </a:pPr>
            <a:r>
              <a:t>- HTML5, CSS3 e JavaScript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Funcionalidades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Cadastro e consulta de equipamentos MSX.</a:t>
            </a:r>
          </a:p>
          <a:p>
            <a:pPr>
              <a:defRPr sz="1400"/>
            </a:pPr>
            <a:r>
              <a:t>- Cadastro e consulta de fabricantes.</a:t>
            </a:r>
          </a:p>
          <a:p>
            <a:pPr>
              <a:defRPr sz="1400"/>
            </a:pPr>
            <a:r>
              <a:t>- Listagem de imagens, documentos, curiosidades e fontes ligadas aos equipamentos.</a:t>
            </a:r>
          </a:p>
          <a:p>
            <a:pPr>
              <a:defRPr sz="1400"/>
            </a:pPr>
            <a:r>
              <a:t>- Listagem de emuladores ligados aos fabricantes.</a:t>
            </a:r>
          </a:p>
          <a:p>
            <a:pPr>
              <a:defRPr sz="1400"/>
            </a:pPr>
            <a:r>
              <a:t>- Filtros por geracao, fabricante, pais e equipamento.</a:t>
            </a:r>
          </a:p>
          <a:p>
            <a:pPr>
              <a:defRPr sz="1400"/>
            </a:pPr>
            <a:r>
              <a:t>- Interface web responsiva em src/main/resources/static.</a:t>
            </a:r>
          </a:p>
          <a:p>
            <a:pPr>
              <a:defRPr sz="1400"/>
            </a:pPr>
            <a:r>
              <a:t>- Tratamento global de excecoes com GlobalExceptionHandler.</a:t>
            </a:r>
          </a:p>
          <a:p>
            <a:pPr>
              <a:defRPr sz="1400"/>
            </a:pPr>
            <a:r>
              <a:t>- Carga inicial de dados com import.sql.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Como executar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### Pre-requisitos</a:t>
            </a:r>
          </a:p>
          <a:p>
            <a:pPr>
              <a:defRPr sz="1400"/>
            </a:pPr>
            <a:r>
              <a:t>- Java 17 ou superior</a:t>
            </a:r>
          </a:p>
          <a:p>
            <a:pPr>
              <a:defRPr sz="1400"/>
            </a:pPr>
            <a:r>
              <a:t>- MySQL 8 ou superior</a:t>
            </a:r>
          </a:p>
          <a:p>
            <a:pPr>
              <a:defRPr sz="1400"/>
            </a:pPr>
            <a:r>
              <a:t>- Maven ou Maven Wrapper do proprio projeto</a:t>
            </a:r>
          </a:p>
          <a:p>
            <a:pPr>
              <a:defRPr sz="1400"/>
            </a:pPr>
            <a:r>
              <a:t>### Configurar o banco</a:t>
            </a:r>
          </a:p>
          <a:p>
            <a:pPr>
              <a:defRPr sz="1400"/>
            </a:pPr>
            <a:r>
              <a:t>O projeto usa MySQL por padrao. A aplicacao tenta criar o banco automaticamente quando a URL contem createDatabaseIfNotExist=true.</a:t>
            </a:r>
          </a:p>
          <a:p>
            <a:pPr>
              <a:defRPr sz="1400"/>
            </a:pPr>
            <a:r>
              <a:t>Configuracao padrao em src/main/resources/application.properties:</a:t>
            </a:r>
          </a:p>
          <a:p>
            <a:pPr>
              <a:defRPr sz="1400"/>
            </a:pPr>
            <a:r>
              <a:t>Tambem existe o script mysql-setup.sql, que cria o banco museu_virtual_hardware e um usuario auxiliar.</a:t>
            </a:r>
          </a:p>
          <a:p>
            <a:pPr>
              <a:defRPr sz="1400"/>
            </a:pPr>
            <a:r>
              <a:t>### Executar com Maven Wrapper</a:t>
            </a:r>
          </a:p>
          <a:p>
            <a:pPr>
              <a:defRPr sz="1400"/>
            </a:pPr>
            <a:r>
              <a:t>No Windows:</a:t>
            </a:r>
          </a:p>
          <a:p>
            <a:pPr>
              <a:defRPr sz="1400"/>
            </a:pPr>
            <a:r>
              <a:t>...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Dados iniciais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 arquivo src/main/resources/import.sql insere dados de exemplo, incluindo:</a:t>
            </a:r>
          </a:p>
          <a:p>
            <a:pPr>
              <a:defRPr sz="1400"/>
            </a:pPr>
            <a:r>
              <a:t>- Fabricantes Gradiente e Sharp.</a:t>
            </a:r>
          </a:p>
          <a:p>
            <a:pPr>
              <a:defRPr sz="1400"/>
            </a:pPr>
            <a:r>
              <a:t>- Equipamentos Expert XP-800 e Hotbit HB-8000.</a:t>
            </a:r>
          </a:p>
          <a:p>
            <a:pPr>
              <a:defRPr sz="1400"/>
            </a:pPr>
            <a:r>
              <a:t>- Imagem, documento, curiosidade e fonte relacionados a equipamento.</a:t>
            </a:r>
          </a:p>
          <a:p>
            <a:pPr>
              <a:defRPr sz="1400"/>
            </a:pPr>
            <a:r>
              <a:t>- Emuladores fMSX e BlueMSX.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Como contribuir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Contribuicoes sao bem-vindas! 🙌 Passos rapidos:</a:t>
            </a:r>
          </a:p>
          <a:p>
            <a:pPr>
              <a:defRPr sz="1400"/>
            </a:pPr>
            <a:r>
              <a:t>1. Fork no GitHub e clone o seu fork localmente.</a:t>
            </a:r>
          </a:p>
          <a:p>
            <a:pPr>
              <a:defRPr sz="1400"/>
            </a:pPr>
            <a:r>
              <a:t>2. Crie uma branch com nome descritivo: feature/minha-mudanca ou fix/corrige-xyz.</a:t>
            </a:r>
          </a:p>
          <a:p>
            <a:pPr>
              <a:defRPr sz="1400"/>
            </a:pPr>
            <a:r>
              <a:t>3. Rode os testes localmente: no Windows mvnw.cmd test.</a:t>
            </a:r>
          </a:p>
          <a:p>
            <a:pPr>
              <a:defRPr sz="1400"/>
            </a:pPr>
            <a:r>
              <a:t>4. Faça commits pequenos e claros; escreva mensagens em portugues ou ingles claras.</a:t>
            </a:r>
          </a:p>
          <a:p>
            <a:pPr>
              <a:defRPr sz="1400"/>
            </a:pPr>
            <a:r>
              <a:t>5. Abra um Pull Request no repositório original descrevendo a mudanca.</a:t>
            </a:r>
          </a:p>
          <a:p>
            <a:pPr>
              <a:defRPr sz="1400"/>
            </a:pPr>
            <a:r>
              <a:t>Boas praticas:</a:t>
            </a:r>
          </a:p>
          <a:p>
            <a:pPr>
              <a:defRPr sz="1400"/>
            </a:pPr>
            <a:r>
              <a:t>- Atualize src/main/resources/import.sql se precisar incluir seeds.</a:t>
            </a:r>
          </a:p>
          <a:p>
            <a:pPr>
              <a:defRPr sz="1400"/>
            </a:pPr>
            <a:r>
              <a:t>- Se adicionar imagens, prefira colocá-las em src/main/resources/static/images/ e referenciar via URL relativa.</a:t>
            </a:r>
          </a:p>
          <a:p>
            <a:pPr>
              <a:defRPr sz="1400"/>
            </a:pPr>
            <a:r>
              <a:t>- Execute mvnw.cmd test antes de abrir o PR e adicione testes quando aplicavel.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Relatar problemas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Use a pagina de Issues do repositório no GitHub para relatar bugs ou sugerir melhorias.</a:t>
            </a:r>
          </a:p>
          <a:p>
            <a:pPr>
              <a:defRPr sz="1400"/>
            </a:pPr>
            <a:r>
              <a:t>- Inclua passos para reproduzir, logs relevantes e ambiente (SO, Java, MySQL).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Exemplo de equipamento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Imagem do equipamento abaixo:</a:t>
            </a:r>
          </a:p>
        </p:txBody>
      </p:sp>
      <p:pic>
        <p:nvPicPr>
          <p:cNvPr id="6" name="Picture 5" descr="hotbit_hb8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11680"/>
            <a:ext cx="5486400" cy="309433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Créditos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Projeto Acadêmico - FATEC</a:t>
            </a:r>
          </a:p>
          <a:p>
            <a:pPr>
              <a:defRPr sz="1400"/>
            </a:pPr>
            <a:r>
              <a:t>Gerado automaticamente a partir do README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</TotalTime>
  <Words>167</Words>
  <Application>Microsoft Office PowerPoint</Application>
  <PresentationFormat>Apresentação na tela (4:3)</PresentationFormat>
  <Paragraphs>27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Luciano Francisco de Oliveira</dc:creator>
  <dc:description/>
  <cp:lastModifiedBy>Admin</cp:lastModifiedBy>
  <cp:revision>12</cp:revision>
  <dcterms:modified xsi:type="dcterms:W3CDTF">2026-05-28T18:54:51Z</dcterms:modified>
  <dc:language>pt-BR</dc:language>
</cp:coreProperties>
</file>